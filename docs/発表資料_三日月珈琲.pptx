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チームMANGETSUです。三日月珈琲さまの顧客管理の仕組みを、Salesforceで作りました。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ヒアリングと、Salesforceにいただいた資料から、課題は「店舗ごとに違う」「本社から見えない」「店舗をまたげない」の3つに整理できました。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部長の4つのご要望に、それぞれSalesforceの機能を対応させました。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作り込みすぎず、標準機能を中心にしています。店舗を共通の軸にしたことで、どのデータも店舗別と全店の両方で見られます。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会員を中心にデータがつながっています。会員は、よく行く店舗の取引先に自動で紐づきます。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問い合わせ記録には、店舗で答えられずに止まっているものがありました。全店で同じ形に記録し、本社のキューで引き取れるようにしました。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実際に、同じ会社に2つの店舗が営業していました。会社名の表記ゆれをそろえて照合し、登録の時点で気づけるようにしました。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効果を測れない一番の原因は入力漏れです。購入日と店舗から自動で紐づけ、リピート率と反応も自動で記録します。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カード番号を読み取るだけで、全店とオンラインで同じポイントが使えます。紙のスタンプからの移行も考えています。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ここから実際の画面をご覧いただきます。データの多くはデモ用のサンプルですが、POSの明細はいただいたファイルをそのまま取り込んでいます。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最後に、部長に決めていただきたいことと、これから進めることです。ありがとうございました。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B2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8A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MANGETSU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三日月珈琲 × Salesforce ｜ チーム MANGETSU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5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5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822960"/>
            <a:ext cx="1828800" cy="182880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30384" y="713232"/>
            <a:ext cx="1645920" cy="1645920"/>
          </a:xfrm>
          <a:prstGeom prst="ellipse">
            <a:avLst/>
          </a:prstGeom>
          <a:solidFill>
            <a:srgbClr val="3B2417"/>
          </a:solidFill>
          <a:ln w="12700">
            <a:solidFill>
              <a:srgbClr val="3B241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三日月珈琲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顧客管理の仕組みづくり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9B949"/>
                </a:solidFill>
              </a:rPr>
              <a:t>店舗ごとにばらばらだったお客様の情報を、Salesforceで「全店でひとつ」に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8A8"/>
                </a:solidFill>
              </a:rPr>
              <a:t>チーム MANGETSU ｜ 2026年10月23日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417"/>
                </a:solidFill>
              </a:rPr>
              <a:t>ご相談の背景と、導入の目的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E55"/>
                </a:solidFill>
              </a:rPr>
              <a:t>社長から「年末のギフト商戦に向けて顧客管理を見直す」よう指示。社内にシステムに詳しい人はいない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3B2417"/>
          </a:solidFill>
          <a:ln w="12700">
            <a:solidFill>
              <a:srgbClr val="3B24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B949"/>
                </a:solidFill>
              </a:rPr>
              <a:t>目的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店舗ごとにばらばらな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お客様の情報を、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本社で一つにまとめて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見られるようにする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120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CCF"/>
                </a:solidFill>
              </a:rPr>
              <a:t>その先に：常連のお客様の満足度と、年末ギフトの売上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548640" cy="548640"/>
          </a:xfrm>
          <a:prstGeom prst="ellipse">
            <a:avLst/>
          </a:prstGeom>
          <a:solidFill>
            <a:srgbClr val="B5773F"/>
          </a:solidFill>
          <a:ln w="12700">
            <a:solidFill>
              <a:srgbClr val="B577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737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417"/>
                </a:solidFill>
              </a:rPr>
              <a:t>店舗ごとに違う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1945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常連への対応、購入の記録、送付リストが店舗ごと。顧客情報はExcel、オンラインは別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3291840"/>
            <a:ext cx="548640" cy="548640"/>
          </a:xfrm>
          <a:prstGeom prst="ellipse">
            <a:avLst/>
          </a:prstGeom>
          <a:solidFill>
            <a:srgbClr val="B5773F"/>
          </a:solidFill>
          <a:ln w="12700">
            <a:solidFill>
              <a:srgbClr val="B577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3200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417"/>
                </a:solidFill>
              </a:rPr>
              <a:t>本社から見えない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657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法人商談はExcelや手帳。同じ会社に2店舗が営業してしまった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4754880"/>
            <a:ext cx="548640" cy="548640"/>
          </a:xfrm>
          <a:prstGeom prst="ellipse">
            <a:avLst/>
          </a:prstGeom>
          <a:solidFill>
            <a:srgbClr val="B5773F"/>
          </a:solidFill>
          <a:ln w="12700">
            <a:solidFill>
              <a:srgbClr val="B577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2648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4663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417"/>
                </a:solidFill>
              </a:rPr>
              <a:t>店舗をまたげない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5120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スタンプカードは吉祥寺本店だけの紙。キャンペーンの効果も店舗ごと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5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417"/>
                </a:solidFill>
              </a:rPr>
              <a:t>4つのご要望と、Salesforceでの実現方法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B5773F"/>
          </a:solidFill>
          <a:ln w="12700">
            <a:solidFill>
              <a:srgbClr val="B577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91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417"/>
                </a:solidFill>
              </a:rPr>
              <a:t>問い合わせ対応を一元管理したい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54480" y="23774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3B2417"/>
          </a:solidFill>
          <a:ln w="12700">
            <a:solidFill>
              <a:srgbClr val="3B241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5448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ケース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8346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店舗・種別・受付方法を記録し、本社カスタマーサクセスのキューで受ける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691640"/>
            <a:ext cx="548640" cy="548640"/>
          </a:xfrm>
          <a:prstGeom prst="ellipse">
            <a:avLst/>
          </a:prstGeom>
          <a:solidFill>
            <a:srgbClr val="B5773F"/>
          </a:solidFill>
          <a:ln w="12700">
            <a:solidFill>
              <a:srgbClr val="B577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1691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417"/>
                </a:solidFill>
              </a:rPr>
              <a:t>法人商談の進み具合を本社で把握したい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23760" y="237744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3B2417"/>
          </a:solidFill>
          <a:ln w="12700">
            <a:solidFill>
              <a:srgbClr val="3B241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商談・リード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28346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店舗×フェーズのダッシュボード。飛び込みはリード、アップセルは商談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B5773F"/>
          </a:solidFill>
          <a:ln w="12700">
            <a:solidFill>
              <a:srgbClr val="B57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4114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417"/>
                </a:solidFill>
              </a:rPr>
              <a:t>キャンペーン効果を店舗横断で把握したい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554480" y="480060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3B2417"/>
          </a:solidFill>
          <a:ln w="12700">
            <a:solidFill>
              <a:srgbClr val="3B241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554480" y="4800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キャンペーン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2578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購入に自動で紐づけ、30日以内のリピート率と反応を自動で記録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38404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4114800"/>
            <a:ext cx="548640" cy="548640"/>
          </a:xfrm>
          <a:prstGeom prst="ellipse">
            <a:avLst/>
          </a:prstGeom>
          <a:solidFill>
            <a:srgbClr val="B5773F"/>
          </a:solidFill>
          <a:ln w="12700">
            <a:solidFill>
              <a:srgbClr val="B577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4114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417"/>
                </a:solidFill>
              </a:rPr>
              <a:t>どこでも貯まって使えるポイントカード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23760" y="480060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3B2417"/>
          </a:solidFill>
          <a:ln w="12700">
            <a:solidFill>
              <a:srgbClr val="3B241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23760" y="4800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ポイントカード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52578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カード番号を読み取って付与・利用する画面。全店とオンラインで共通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5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417"/>
                </a:solidFill>
              </a:rPr>
              <a:t>実装の3つの考え方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E55"/>
                </a:solidFill>
              </a:rPr>
              <a:t>システムに詳しい人がいなくても、無理なく使い続けられること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389120"/>
          </a:xfrm>
          <a:prstGeom prst="roundRect">
            <a:avLst>
              <a:gd name="adj" fmla="val 3077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B5773F"/>
                </a:solidFill>
              </a:rPr>
              <a:t>8</a:t>
            </a:r>
            <a:pPr indent="0" marL="0">
              <a:buNone/>
            </a:pPr>
            <a:r>
              <a:rPr lang="en-US" sz="2000" b="1" dirty="0">
                <a:solidFill>
                  <a:srgbClr val="B5773F"/>
                </a:solidFill>
              </a:rPr>
              <a:t>つ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2417"/>
                </a:solidFill>
              </a:rPr>
              <a:t>標準機能を優先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204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取引先・取引先責任者・商談・リード・ケース・キャンペーン・キャンペーンメンバー・商品は標準のまま。カスタムオブジェクトは、標準に無いポイントカード・ポイント履歴・POS売上明細の3つだけ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66160" cy="4389120"/>
          </a:xfrm>
          <a:prstGeom prst="roundRect">
            <a:avLst>
              <a:gd name="adj" fmla="val 3077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920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B5773F"/>
                </a:solidFill>
              </a:rPr>
              <a:t>1</a:t>
            </a:r>
            <a:pPr indent="0" marL="0">
              <a:buNone/>
            </a:pPr>
            <a:r>
              <a:rPr lang="en-US" sz="2000" b="1" dirty="0">
                <a:solidFill>
                  <a:srgbClr val="B5773F"/>
                </a:solidFill>
              </a:rPr>
              <a:t>つ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2417"/>
                </a:solidFill>
              </a:rPr>
              <a:t>「店舗」を共通の軸に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5204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6店舗＋オンラインショップ＋本社を、1つの選択リストで全オブジェクトに共通化。どの画面も「店舗別」と「全店」の両方で見られる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566160" cy="4389120"/>
          </a:xfrm>
          <a:prstGeom prst="roundRect">
            <a:avLst>
              <a:gd name="adj" fmla="val 3077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58200" y="1920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B5773F"/>
                </a:solidFill>
              </a:rPr>
              <a:t>11</a:t>
            </a:r>
            <a:pPr indent="0" marL="0">
              <a:buNone/>
            </a:pPr>
            <a:r>
              <a:rPr lang="en-US" sz="2000" b="1" dirty="0">
                <a:solidFill>
                  <a:srgbClr val="B5773F"/>
                </a:solidFill>
              </a:rPr>
              <a:t>本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2417"/>
                </a:solidFill>
              </a:rPr>
              <a:t>入力させない自動化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352044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フローで、店舗・会員・キャンペーン・営業区分・リピート・反応を自動で設定。スタッフの入力漏れで数字が狂わない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72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E55"/>
                </a:solidFill>
              </a:rPr>
              <a:t>8つ＝そのまま使う標準オブジェクト　1つ＝店舗の選択リスト　11本＝フロー（自動10本＋画面1本）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5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417"/>
                </a:solidFill>
              </a:rPr>
              <a:t>データのつながり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E55"/>
                </a:solidFill>
              </a:rPr>
              <a:t>会員を中心に、ポイント・売上・問い合わせ・キャンペーンがつながる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B24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417"/>
                </a:solidFill>
              </a:rPr>
              <a:t>リード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5E55"/>
                </a:solidFill>
              </a:rPr>
              <a:t>飛び込み営業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89720" y="169164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B241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89720" y="16916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417"/>
                </a:solidFill>
              </a:rPr>
              <a:t>キャンペーン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5E55"/>
                </a:solidFill>
              </a:rPr>
              <a:t>親＋店舗ごとの子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B241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004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417"/>
                </a:solidFill>
              </a:rPr>
              <a:t>取引先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5E55"/>
                </a:solidFill>
              </a:rPr>
              <a:t>7店舗・法人のお客様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29000" y="320040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B241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32004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417"/>
                </a:solidFill>
              </a:rPr>
              <a:t>取引先責任者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5E55"/>
                </a:solidFill>
              </a:rPr>
              <a:t>会員（個人のお客様）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0" y="320040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B5773F"/>
          </a:solidFill>
          <a:ln w="19050">
            <a:solidFill>
              <a:srgbClr val="B577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32004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ポイントカード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4E6"/>
                </a:solidFill>
              </a:rPr>
              <a:t>全店共通・残高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89720" y="320040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B5773F"/>
          </a:solidFill>
          <a:ln w="19050">
            <a:solidFill>
              <a:srgbClr val="B577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9720" y="32004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ポイント履歴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4E6"/>
                </a:solidFill>
              </a:rPr>
              <a:t>付与・利用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B241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7091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417"/>
                </a:solidFill>
              </a:rPr>
              <a:t>商談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5E55"/>
                </a:solidFill>
              </a:rPr>
              <a:t>新規開拓／アップセル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29000" y="470916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B24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29000" y="47091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417"/>
                </a:solidFill>
              </a:rPr>
              <a:t>ケース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5E55"/>
                </a:solidFill>
              </a:rPr>
              <a:t>問い合わせ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89720" y="4709160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B5773F"/>
          </a:solidFill>
          <a:ln w="19050">
            <a:solidFill>
              <a:srgbClr val="B577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89720" y="47091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POS売上明細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4E6"/>
                </a:solidFill>
              </a:rPr>
              <a:t>レジの明細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760220" y="2468880"/>
            <a:ext cx="0" cy="731520"/>
          </a:xfrm>
          <a:prstGeom prst="line">
            <a:avLst/>
          </a:prstGeom>
          <a:noFill/>
          <a:ln w="19050">
            <a:solidFill>
              <a:srgbClr val="3B2417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1851660" y="2578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55"/>
                </a:solidFill>
              </a:rPr>
              <a:t>取引の開始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401300" y="2468880"/>
            <a:ext cx="0" cy="731520"/>
          </a:xfrm>
          <a:prstGeom prst="line">
            <a:avLst/>
          </a:prstGeom>
          <a:noFill/>
          <a:ln w="19050">
            <a:solidFill>
              <a:srgbClr val="3B2417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10492740" y="25786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55"/>
                </a:solidFill>
              </a:rPr>
              <a:t>自動で紐づけ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71800" y="3589020"/>
            <a:ext cx="457200" cy="0"/>
          </a:xfrm>
          <a:prstGeom prst="line">
            <a:avLst/>
          </a:prstGeom>
          <a:noFill/>
          <a:ln w="19050">
            <a:solidFill>
              <a:srgbClr val="3B241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852160" y="3589020"/>
            <a:ext cx="457200" cy="0"/>
          </a:xfrm>
          <a:prstGeom prst="line">
            <a:avLst/>
          </a:prstGeom>
          <a:noFill/>
          <a:ln w="19050">
            <a:solidFill>
              <a:srgbClr val="3B241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732520" y="3589020"/>
            <a:ext cx="457200" cy="0"/>
          </a:xfrm>
          <a:prstGeom prst="line">
            <a:avLst/>
          </a:prstGeom>
          <a:noFill/>
          <a:ln w="19050">
            <a:solidFill>
              <a:srgbClr val="3B241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760220" y="3977640"/>
            <a:ext cx="0" cy="731520"/>
          </a:xfrm>
          <a:prstGeom prst="line">
            <a:avLst/>
          </a:prstGeom>
          <a:noFill/>
          <a:ln w="19050">
            <a:solidFill>
              <a:srgbClr val="3B2417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640580" y="3977640"/>
            <a:ext cx="0" cy="731520"/>
          </a:xfrm>
          <a:prstGeom prst="line">
            <a:avLst/>
          </a:prstGeom>
          <a:noFill/>
          <a:ln w="19050">
            <a:solidFill>
              <a:srgbClr val="3B241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401300" y="3977640"/>
            <a:ext cx="0" cy="731520"/>
          </a:xfrm>
          <a:prstGeom prst="line">
            <a:avLst/>
          </a:prstGeom>
          <a:noFill/>
          <a:ln w="19050">
            <a:solidFill>
              <a:srgbClr val="3B2417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10492740" y="40873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E55"/>
                </a:solidFill>
              </a:rPr>
              <a:t>売上とポイント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4800600"/>
            <a:ext cx="320040" cy="228600"/>
          </a:xfrm>
          <a:prstGeom prst="roundRect">
            <a:avLst>
              <a:gd name="adj" fmla="val 20000"/>
            </a:avLst>
          </a:prstGeom>
          <a:solidFill>
            <a:srgbClr val="B5773F"/>
          </a:solidFill>
          <a:ln w="12700">
            <a:solidFill>
              <a:srgbClr val="B577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20840" y="4754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カスタムオブジェクト（標準に無いもの）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5212080"/>
            <a:ext cx="32004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3B241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20840" y="5166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</a:rPr>
              <a:t>標準オブジェクト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</a:rPr>
              <a:t>POS売上明細は、会員・ポイントカード・キャンペーンとも紐づく。会員の画面で「売上履歴」と「ポイント履歴」が並んで見える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5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548640" cy="548640"/>
          </a:xfrm>
          <a:prstGeom prst="ellipse">
            <a:avLst/>
          </a:prstGeom>
          <a:solidFill>
            <a:srgbClr val="3B2417"/>
          </a:solidFill>
          <a:ln w="12700">
            <a:solidFill>
              <a:srgbClr val="3B241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29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417"/>
                </a:solidFill>
              </a:rPr>
              <a:t>問い合わせを本社で一元管理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E55"/>
                </a:solidFill>
              </a:rPr>
              <a:t>「どの店舗で、誰が、何を受けて、どうなったか」を全店で同じ形に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206240" cy="4434840"/>
          </a:xfrm>
          <a:prstGeom prst="roundRect">
            <a:avLst>
              <a:gd name="adj" fmla="val 2609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73F"/>
                </a:solidFill>
              </a:rPr>
              <a:t>いただいた資料から見えたこと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37490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</a:rPr>
              <a:t>オンラインの注文の問い合わせに、店舗で「本社に聞いてください」「分かりません」と答えている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</a:rPr>
              <a:t>状況が「？」「未対応」のまま残っている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</a:rPr>
              <a:t>「同じ案内が3通届いた」という苦情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73F"/>
                </a:solidFill>
              </a:rPr>
              <a:t>実装のポイント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120640" y="2286000"/>
            <a:ext cx="411480" cy="41148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35854" y="2261311"/>
            <a:ext cx="370332" cy="3703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2240280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417"/>
                </a:solidFill>
              </a:rPr>
              <a:t>店舗・種別・受付方法をそろえる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2651760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ケースに店舗・問い合わせ種別（ギフト・定期便・クレームなど）・受付方法（店頭を追加）。店舗は作成者の所属店舗が自動で入る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0" y="3584448"/>
            <a:ext cx="411480" cy="41148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35854" y="3559759"/>
            <a:ext cx="370332" cy="3703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15000" y="3538728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417"/>
                </a:solidFill>
              </a:rPr>
              <a:t>本社カスタマーサクセスのキュー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3950208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未対応の問い合わせは本社のキューに集まり、店舗で答えられないものを本社が引き取れる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20640" y="4882896"/>
            <a:ext cx="411480" cy="41148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35854" y="4858207"/>
            <a:ext cx="370332" cy="3703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15000" y="4837176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417"/>
                </a:solidFill>
              </a:rPr>
              <a:t>店舗別・状況別で見える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5248656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レポート「店舗別・状況別のケース」と、ホーム画面の「未対応のケース（全店舗）」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5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548640" cy="548640"/>
          </a:xfrm>
          <a:prstGeom prst="ellipse">
            <a:avLst/>
          </a:prstGeom>
          <a:solidFill>
            <a:srgbClr val="3B2417"/>
          </a:solidFill>
          <a:ln w="12700">
            <a:solidFill>
              <a:srgbClr val="3B241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29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417"/>
                </a:solidFill>
              </a:rPr>
              <a:t>法人商談を本社から見える化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E55"/>
                </a:solidFill>
              </a:rPr>
              <a:t>「どの会社に、どの店舗の誰が行っているか」をひと目で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206240" cy="4434840"/>
          </a:xfrm>
          <a:prstGeom prst="roundRect">
            <a:avLst>
              <a:gd name="adj" fmla="val 2609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73F"/>
                </a:solidFill>
              </a:rPr>
              <a:t>いただいた資料から見えたこと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37490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</a:rPr>
              <a:t>商談の管理はExcelや手帳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</a:rPr>
              <a:t>ABCオフィスサービスに、渋谷店と新宿店の2人が別々に提案していた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</a:rPr>
              <a:t>お客様から「どちらが担当か」と聞かれた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73F"/>
                </a:solidFill>
              </a:rPr>
              <a:t>実装のポイント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120640" y="2286000"/>
            <a:ext cx="411480" cy="41148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35854" y="2261311"/>
            <a:ext cx="370332" cy="3703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2240280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417"/>
                </a:solidFill>
              </a:rPr>
              <a:t>飛び込みはリード、アップセルは商談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2651760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断られた訪問もリードに残る。興味を持ってもらえたら「取引の開始」で取引先・商談へ。受注済みのお客様の商談は自動で「アップセル」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0" y="3584448"/>
            <a:ext cx="411480" cy="41148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35854" y="3559759"/>
            <a:ext cx="370332" cy="3703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15000" y="3538728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417"/>
                </a:solidFill>
              </a:rPr>
              <a:t>二重営業を防ぐ重複チェック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3950208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「株式会社」「（株）」や全角・半角の違いをそろえて会社名を照合し、同じ会社があれば警告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20640" y="4882896"/>
            <a:ext cx="411480" cy="41148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35854" y="4858207"/>
            <a:ext cx="370332" cy="3703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15000" y="4837176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417"/>
                </a:solidFill>
              </a:rPr>
              <a:t>店舗×フェーズのダッシュボード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5248656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法人商談ダッシュボードで、店舗ごとの件数・月額見込み・新規開拓とアップセルの内訳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5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548640" cy="548640"/>
          </a:xfrm>
          <a:prstGeom prst="ellipse">
            <a:avLst/>
          </a:prstGeom>
          <a:solidFill>
            <a:srgbClr val="3B2417"/>
          </a:solidFill>
          <a:ln w="12700">
            <a:solidFill>
              <a:srgbClr val="3B241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29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417"/>
                </a:solidFill>
              </a:rPr>
              <a:t>キャンペーン効果を店舗横断で把握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E55"/>
                </a:solidFill>
              </a:rPr>
              <a:t>入力漏れが無いように、効果の記録はすべて自動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206240" cy="4434840"/>
          </a:xfrm>
          <a:prstGeom prst="roundRect">
            <a:avLst>
              <a:gd name="adj" fmla="val 2609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73F"/>
                </a:solidFill>
              </a:rPr>
              <a:t>いただいた資料から見えたこと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37490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</a:rPr>
              <a:t>キャンペーンは年4回。本社と各店舗がそれぞれ判断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</a:rPr>
              <a:t>送付リストは店舗ごとに作っていて、同じ人に重複して送っている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</a:rPr>
              <a:t>豆は2〜4週間で飲み切る。常連は月1〜2回来店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73F"/>
                </a:solidFill>
              </a:rPr>
              <a:t>実装のポイント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120640" y="2286000"/>
            <a:ext cx="411480" cy="41148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35854" y="2261311"/>
            <a:ext cx="370332" cy="3703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2240280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417"/>
                </a:solidFill>
              </a:rPr>
              <a:t>購入に自動で紐づけ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2651760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購入日と店舗から、実施中のキャンペーンをフローが自動設定。全店で行うものと店舗ごとのものを親子で管理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0" y="3584448"/>
            <a:ext cx="411480" cy="41148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35854" y="3559759"/>
            <a:ext cx="370332" cy="3703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15000" y="3538728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417"/>
                </a:solidFill>
              </a:rPr>
              <a:t>30日以内のリピート率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3950208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値引きで一度来ただけか、常連になったかを測る。豆の飲み切りサイクルに合わせた指標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20640" y="4882896"/>
            <a:ext cx="411480" cy="41148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35854" y="4858207"/>
            <a:ext cx="370332" cy="3703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15000" y="4837176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417"/>
                </a:solidFill>
              </a:rPr>
              <a:t>案内した会員の反応も自動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5248656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案内した会員が買うと「レスポンスあり」に。同じ会員は同じキャンペーンに二重登録できない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5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29768"/>
            <a:ext cx="548640" cy="548640"/>
          </a:xfrm>
          <a:prstGeom prst="ellipse">
            <a:avLst/>
          </a:prstGeom>
          <a:solidFill>
            <a:srgbClr val="3B2417"/>
          </a:solidFill>
          <a:ln w="12700">
            <a:solidFill>
              <a:srgbClr val="3B241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29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65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417"/>
                </a:solidFill>
              </a:rPr>
              <a:t>全店共通のポイントカード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E55"/>
                </a:solidFill>
              </a:rPr>
              <a:t>お買い上げ100円で1ポイント、1ポイント1円。カフェも対象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206240" cy="4434840"/>
          </a:xfrm>
          <a:prstGeom prst="roundRect">
            <a:avLst>
              <a:gd name="adj" fmla="val 2609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73F"/>
                </a:solidFill>
              </a:rPr>
              <a:t>いただいた資料から見えたこと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37490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</a:rPr>
              <a:t>今は吉祥寺本店だけの紙のスタンプカード（10個でドリンク無料）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</a:rPr>
              <a:t>全店舗とオンラインで使えるようにしたい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</a:rPr>
              <a:t>カードのバーコードはレジで読み取る（別の仕組み）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73F"/>
                </a:solidFill>
              </a:rPr>
              <a:t>実装のポイント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120640" y="2286000"/>
            <a:ext cx="411480" cy="41148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35854" y="2261311"/>
            <a:ext cx="370332" cy="3703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15000" y="2240280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417"/>
                </a:solidFill>
              </a:rPr>
              <a:t>「ポイント受付」画面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2651760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カード番号を読み取る→会員名と残高を表示→購入金額を入れると自動で付与。利用もこの画面から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0" y="3584448"/>
            <a:ext cx="411480" cy="41148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35854" y="3559759"/>
            <a:ext cx="370332" cy="3703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15000" y="3538728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417"/>
                </a:solidFill>
              </a:rPr>
              <a:t>間違いを防ぐ入力チェック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3950208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残高より多い利用、停止中のカード、付与と利用の符号の誤りはエラーで止める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20640" y="4882896"/>
            <a:ext cx="411480" cy="41148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35854" y="4858207"/>
            <a:ext cx="370332" cy="3703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15000" y="4837176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417"/>
                </a:solidFill>
              </a:rPr>
              <a:t>紙のスタンプからの移行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5248656"/>
            <a:ext cx="5897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会員に「紙スタンプ数」の項目。カードの紛失・再発行に備え、カードと会員は別に管理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5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417"/>
                </a:solidFill>
              </a:rPr>
              <a:t>デモで見ていただく画面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E55"/>
                </a:solidFill>
              </a:rPr>
              <a:t>アプリランチャー →「三日月珈琲」アプリ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B5773F"/>
          </a:solidFill>
          <a:ln w="12700">
            <a:solidFill>
              <a:srgbClr val="B577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2417"/>
                </a:solidFill>
              </a:rPr>
              <a:t>ホーム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店舗別のPOS売上と、未対応の問い合わせ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27248" y="3566160"/>
            <a:ext cx="237744" cy="0"/>
          </a:xfrm>
          <a:prstGeom prst="line">
            <a:avLst/>
          </a:prstGeom>
          <a:noFill/>
          <a:ln w="25400">
            <a:solidFill>
              <a:srgbClr val="B5773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83280" y="201168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2286000"/>
            <a:ext cx="548640" cy="548640"/>
          </a:xfrm>
          <a:prstGeom prst="ellipse">
            <a:avLst/>
          </a:prstGeom>
          <a:solidFill>
            <a:srgbClr val="B5773F"/>
          </a:solidFill>
          <a:ln w="12700">
            <a:solidFill>
              <a:srgbClr val="B577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2417"/>
                </a:solidFill>
              </a:rPr>
              <a:t>ポイント受付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5661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カード番号を入れて、ポイントを付与する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61888" y="3566160"/>
            <a:ext cx="237744" cy="0"/>
          </a:xfrm>
          <a:prstGeom prst="line">
            <a:avLst/>
          </a:prstGeom>
          <a:noFill/>
          <a:ln w="25400">
            <a:solidFill>
              <a:srgbClr val="B5773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17920" y="201168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2286000"/>
            <a:ext cx="548640" cy="548640"/>
          </a:xfrm>
          <a:prstGeom prst="ellipse">
            <a:avLst/>
          </a:prstGeom>
          <a:solidFill>
            <a:srgbClr val="B5773F"/>
          </a:solidFill>
          <a:ln w="12700">
            <a:solidFill>
              <a:srgbClr val="B577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2417"/>
                </a:solidFill>
              </a:rPr>
              <a:t>会員の画面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5661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売上履歴・ポイント履歴・問い合わせが一か所に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796528" y="3566160"/>
            <a:ext cx="237744" cy="0"/>
          </a:xfrm>
          <a:prstGeom prst="line">
            <a:avLst/>
          </a:prstGeom>
          <a:noFill/>
          <a:ln w="25400">
            <a:solidFill>
              <a:srgbClr val="B5773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52560" y="201168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6F1EC"/>
          </a:solidFill>
          <a:ln w="12700">
            <a:solidFill>
              <a:srgbClr val="F6F1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0" y="2286000"/>
            <a:ext cx="548640" cy="548640"/>
          </a:xfrm>
          <a:prstGeom prst="ellipse">
            <a:avLst/>
          </a:prstGeom>
          <a:solidFill>
            <a:srgbClr val="B5773F"/>
          </a:solidFill>
          <a:ln w="12700">
            <a:solidFill>
              <a:srgbClr val="B577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268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B2417"/>
                </a:solidFill>
              </a:rPr>
              <a:t>ダッシュボード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35661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</a:rPr>
              <a:t>法人商談とキャンペーン効果を店舗別に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E55"/>
                </a:solidFill>
              </a:rPr>
              <a:t>※ 会員・法人・キャンペーンのデータはデモ用のサンプルです。POS売上明細は、いただいたファイル（10月1日〜14日の63件）を取り込みました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E55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548640"/>
            <a:ext cx="1188720" cy="118872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74122" y="477317"/>
            <a:ext cx="1069848" cy="1069848"/>
          </a:xfrm>
          <a:prstGeom prst="ellipse">
            <a:avLst/>
          </a:prstGeom>
          <a:solidFill>
            <a:srgbClr val="3B2417"/>
          </a:solidFill>
          <a:ln w="12700">
            <a:solidFill>
              <a:srgbClr val="3B241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次のステップ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B949"/>
                </a:solidFill>
              </a:rPr>
              <a:t>部長に決めていただきたいこと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ポイントの有効期限と、紙スタンプの換算方法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キャンペーン効果は売上・反応率・リピート率のどれを一番に見るか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飛び込みで断られた会社も記録に残すか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600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B949"/>
                </a:solidFill>
              </a:rPr>
              <a:t>これから進めること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0312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顧客リスト・常連メモ・案件一覧を、重複をまとめて取り込む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POSの売上を定期的に取り込み、会員以外も含めてキャンペーン効果を測る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LINE・メールの送付リストを、キャンペーンメンバーに一本化する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349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B949"/>
                </a:solidFill>
              </a:rPr>
              <a:t>ありがとうございました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三日月珈琲 顧客管理の仕組みづくり</dc:title>
  <dc:subject>PptxGenJS Presentation</dc:subject>
  <dc:creator>チーム MANGETSU</dc:creator>
  <cp:lastModifiedBy>チーム MANGETSU</cp:lastModifiedBy>
  <cp:revision>1</cp:revision>
  <dcterms:created xsi:type="dcterms:W3CDTF">2026-10-23T06:57:54Z</dcterms:created>
  <dcterms:modified xsi:type="dcterms:W3CDTF">2026-10-23T06:57:54Z</dcterms:modified>
</cp:coreProperties>
</file>